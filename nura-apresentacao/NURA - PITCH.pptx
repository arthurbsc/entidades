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5486400" cy="5486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" name="Image 0" descr="/sessions/quirky-beautiful-hamilton/mnt/NURA/slide pitch/assets/nura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828800"/>
            <a:ext cx="3200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92608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operacional da educação brasileira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251960" y="53035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5196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 · TECNOGAME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 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ensino superior brasileiro opera no caos.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cenas que se repetem todos os dias em 2.400 instituições: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560320"/>
            <a:ext cx="91440" cy="30175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9601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manual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Secretária re-digita a mesma nota em 3 sistemas diferentes. Toda. Semana.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256032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2560320"/>
            <a:ext cx="91440" cy="30175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7432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470916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desperdiçado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0916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tempo do servidor acadêmico é gasto em tarefas que um software deveria fazer.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92440" y="256032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92440" y="2560320"/>
            <a:ext cx="91440" cy="30175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74320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84582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sumindo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45820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desistem porque ninguém respondeu o e-mail há duas semanas.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E1E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dor nós sentimos na pele — como alunos de IES privada.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ALTERNATIVAS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saídas atuais são sintoma — não solução.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303520" cy="3566160"/>
          </a:xfrm>
          <a:prstGeom prst="roundRect">
            <a:avLst>
              <a:gd name="adj" fmla="val 3846"/>
            </a:avLst>
          </a:prstGeom>
          <a:solidFill>
            <a:srgbClr val="131333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03120"/>
            <a:ext cx="5303520" cy="640080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77440"/>
            <a:ext cx="53035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3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A · FRANKENSTEIN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fornecedores diferentes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Sponte + Pergamum + Zenvia + TOTVS…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integração &gt; custo de licença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duplicados em 5 bancos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total do processo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03520" cy="3566160"/>
          </a:xfrm>
          <a:prstGeom prst="roundRect">
            <a:avLst>
              <a:gd name="adj" fmla="val 3846"/>
            </a:avLst>
          </a:prstGeom>
          <a:solidFill>
            <a:srgbClr val="13133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103120"/>
            <a:ext cx="5303520" cy="640080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377440"/>
            <a:ext cx="5303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103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A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B · PLANILHA COMPARTILHADA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92608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Google Forms + WhatsApp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automação, zero auditoria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somem quando alguém sai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relatório para MEC/INEP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Informalidade total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E1E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nunca teve uma plataforma nativa e unificada para ensino superior.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 SOLUÇÃO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é essa plataforma.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login. Uma fatura. Uma fonte de verdade.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24688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203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880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4688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26280" y="24688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27203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880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4688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818120" y="24688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0" y="27203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2880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24688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234440" y="38404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463040" y="40919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60" y="4251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86000" y="38404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Seletivo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26280" y="38404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54880" y="40919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425196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38404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&amp; TCC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7818120" y="38404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046720" y="40919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6740" y="425196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869680" y="38404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Institucional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1234440" y="52120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463040" y="54635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060" y="562356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286000" y="5212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4526280" y="52120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754880" y="5463540"/>
            <a:ext cx="685800" cy="685800"/>
          </a:xfrm>
          <a:prstGeom prst="ellipse">
            <a:avLst/>
          </a:prstGeom>
          <a:solidFill>
            <a:srgbClr val="1E1E4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5623560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577840" y="5212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Biométrica</a:t>
            </a:r>
            <a:endParaRPr lang="en-US" sz="1500" dirty="0"/>
          </a:p>
        </p:txBody>
      </p:sp>
      <p:sp>
        <p:nvSpPr>
          <p:cNvPr id="38" name="Shape 28"/>
          <p:cNvSpPr/>
          <p:nvPr/>
        </p:nvSpPr>
        <p:spPr>
          <a:xfrm>
            <a:off x="7818120" y="52120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8046720" y="546354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740" y="5623560"/>
            <a:ext cx="365760" cy="3657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869680" y="5212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IA</a:t>
            </a:r>
            <a:endParaRPr lang="en-US" sz="1500" dirty="0"/>
          </a:p>
        </p:txBody>
      </p:sp>
      <p:sp>
        <p:nvSpPr>
          <p:cNvPr id="42" name="Shape 31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 DIFERENCIAL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em 2026. De verdade.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concorrentes modernizam 20 anos de legado, nós começamos do zero com IA no núcleo.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" y="2651760"/>
            <a:ext cx="5303520" cy="1691640"/>
          </a:xfrm>
          <a:prstGeom prst="roundRect">
            <a:avLst>
              <a:gd name="adj" fmla="val 8108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" y="3017520"/>
            <a:ext cx="914400" cy="9144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32461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3454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nativa 2026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03454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dívida técnica. Infraestrutura em nuvem moderna e escalável desde o dia zero.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0780" y="2651760"/>
            <a:ext cx="5303520" cy="1691640"/>
          </a:xfrm>
          <a:prstGeom prst="roundRect">
            <a:avLst>
              <a:gd name="adj" fmla="val 8108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60820" y="3017520"/>
            <a:ext cx="914400" cy="9144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32461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5810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desde o primeiro commit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5810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Lyra no núcleo — não é feature colada depois, é arquitetura fundamental.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7220" y="4663440"/>
            <a:ext cx="5303520" cy="1691640"/>
          </a:xfrm>
          <a:prstGeom prst="roundRect">
            <a:avLst>
              <a:gd name="adj" fmla="val 8108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7260" y="5029200"/>
            <a:ext cx="914400" cy="9144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52578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34540" y="4937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de verdade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034540" y="5394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instância, milhares de instituições isoladas por slug com zero cross-contamination.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40780" y="4663440"/>
            <a:ext cx="5303520" cy="1691640"/>
          </a:xfrm>
          <a:prstGeom prst="roundRect">
            <a:avLst>
              <a:gd name="adj" fmla="val 8108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60820" y="5029200"/>
            <a:ext cx="914400" cy="9144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52578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58100" y="4937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mobile-first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658100" y="5394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e alunos usam do celular sem perder função. Responsivo de fato, não no slide.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DE NEGÓCIO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B2B · R$ 80 por aluno ativo / mês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recorrente, previsível e escalável — mensal, por aluno ativo.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10332720" cy="2194560"/>
          </a:xfrm>
          <a:prstGeom prst="roundRect">
            <a:avLst>
              <a:gd name="adj" fmla="val 8333"/>
            </a:avLst>
          </a:prstGeom>
          <a:solidFill>
            <a:srgbClr val="131333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MÉDIA GERA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alunos × R$ 80 × 12 meses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R$ 1,44 milhão de ARR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94360" y="512064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E1E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5257800"/>
            <a:ext cx="822960" cy="822960"/>
          </a:xfrm>
          <a:prstGeom prst="ellipse">
            <a:avLst/>
          </a:prstGeom>
          <a:solidFill>
            <a:srgbClr val="0A0A1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458968"/>
            <a:ext cx="420624" cy="4206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8308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783080" y="5577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343400" y="512064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E1E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5257800"/>
            <a:ext cx="822960" cy="822960"/>
          </a:xfrm>
          <a:prstGeom prst="ellipse">
            <a:avLst/>
          </a:prstGeom>
          <a:solidFill>
            <a:srgbClr val="0A0A1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5458968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B2B ALVO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532120" y="5577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/ ano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092440" y="512064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E1E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21040" y="5257800"/>
            <a:ext cx="822960" cy="822960"/>
          </a:xfrm>
          <a:prstGeom prst="ellipse">
            <a:avLst/>
          </a:prstGeom>
          <a:solidFill>
            <a:srgbClr val="0A0A1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545896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8116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281160" y="5577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R$ 120k / mês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MERCADO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bilionário subatendido.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313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94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PRIVADAS NO BRASIL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313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194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 MI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2628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NO ENSINO SUPERIOR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2440" y="201168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313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194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R$ 800M–1,5 BI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7532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ANUAL BRASIL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10332720" cy="155448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36 MESES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IES  ·  75.000 alunos  ·  R$ 72 MI ARR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· QUEM CONSTRÓI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Faminto. Baixo custo. Skin no jogo máximo.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estudantes vivendo a dor que estão resolvendo.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65176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em produto · Aluno de IES privada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37744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65176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2628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BACKEND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em engenharia · Aluno de IES privada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237744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265176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27532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Rômulo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7532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FRONTEND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em engenharia · Aluno de IES privada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construir 10× mais rápido e 5× mais barato que qualquer time sênior.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 PEDIDO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Captando R$ 500k via SAFE.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Pré-money R$ 2,5M · Oversubscription até R$ 700k · Runway de 18 meses.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3474720" cy="2926080"/>
          </a:xfrm>
          <a:prstGeom prst="roundRect">
            <a:avLst>
              <a:gd name="adj" fmla="val 6250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743200"/>
            <a:ext cx="1463040" cy="1463040"/>
          </a:xfrm>
          <a:prstGeom prst="ellipse">
            <a:avLst/>
          </a:prstGeom>
          <a:solidFill>
            <a:srgbClr val="0A0A1F"/>
          </a:solidFill>
          <a:ln w="508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&amp; BD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Closers, parcerias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560320"/>
            <a:ext cx="3474720" cy="2926080"/>
          </a:xfrm>
          <a:prstGeom prst="roundRect">
            <a:avLst>
              <a:gd name="adj" fmla="val 6250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743200"/>
            <a:ext cx="1463040" cy="1463040"/>
          </a:xfrm>
          <a:prstGeom prst="ellipse">
            <a:avLst/>
          </a:prstGeom>
          <a:solidFill>
            <a:srgbClr val="0A0A1F"/>
          </a:solidFill>
          <a:ln w="508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2628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produto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infraestrutura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2560320"/>
            <a:ext cx="3474720" cy="2926080"/>
          </a:xfrm>
          <a:prstGeom prst="roundRect">
            <a:avLst>
              <a:gd name="adj" fmla="val 6250"/>
            </a:avLst>
          </a:prstGeom>
          <a:solidFill>
            <a:srgbClr val="1313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2743200"/>
            <a:ext cx="1463040" cy="1463040"/>
          </a:xfrm>
          <a:prstGeom prst="ellipse">
            <a:avLst/>
          </a:prstGeom>
          <a:solidFill>
            <a:srgbClr val="0A0A1F"/>
          </a:solidFill>
          <a:ln w="508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7532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Jurídico, compliance,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cloud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5760720"/>
            <a:ext cx="5943600" cy="685800"/>
          </a:xfrm>
          <a:prstGeom prst="roundRect">
            <a:avLst>
              <a:gd name="adj" fmla="val 46667"/>
            </a:avLst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5760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comigo após o pitch</a:t>
            </a:r>
            <a:endParaRPr lang="en-US" sz="18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5925312"/>
            <a:ext cx="365760" cy="36576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 · Pitch Deck · Brasília TecnoGame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" name="Image 0" descr="/sessions/quirky-beautiful-hamilton/mnt/NURA/slide pitch/assets/nura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371600"/>
            <a:ext cx="27432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0" b="1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</a:t>
            </a:r>
            <a:endParaRPr lang="en-US" sz="10800" dirty="0"/>
          </a:p>
        </p:txBody>
      </p:sp>
      <p:sp>
        <p:nvSpPr>
          <p:cNvPr id="6" name="Text 3"/>
          <p:cNvSpPr/>
          <p:nvPr/>
        </p:nvSpPr>
        <p:spPr>
          <a:xfrm>
            <a:off x="0" y="393192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operacional da educação brasileira.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1965960" y="5760720"/>
            <a:ext cx="8229600" cy="594360"/>
          </a:xfrm>
          <a:prstGeom prst="roundRect">
            <a:avLst>
              <a:gd name="adj" fmla="val 49231"/>
            </a:avLst>
          </a:prstGeom>
          <a:solidFill>
            <a:srgbClr val="131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65960" y="5760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nextgenbrotherss@gmail.com   ·   www.nurasys.com.br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NURA · Pitch Deck</dc:title>
  <dc:subject>O sistema operacional da educação brasileira</dc:subject>
  <dc:creator>NURA</dc:creator>
  <cp:lastModifiedBy>NURA</cp:lastModifiedBy>
  <cp:revision>1</cp:revision>
  <dcterms:created xsi:type="dcterms:W3CDTF">2026-04-20T00:31:51Z</dcterms:created>
  <dcterms:modified xsi:type="dcterms:W3CDTF">2026-04-20T00:31:51Z</dcterms:modified>
</cp:coreProperties>
</file>